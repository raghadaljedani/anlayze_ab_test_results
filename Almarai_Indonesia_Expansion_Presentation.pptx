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Almarai's Expansion into Indonesia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International Market Entry Report</a:t>
            </a:r>
          </a:p>
          <a:p>
            <a:r>
              <a:t>MBA 6112 International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Almarai Company: Saudi Arabia's leading dairy and food producer</a:t>
            </a:r>
          </a:p>
          <a:p>
            <a:pPr>
              <a:spcAft>
                <a:spcPts val="1200"/>
              </a:spcAft>
              <a:defRPr sz="1600"/>
            </a:pPr>
            <a:r>
              <a:t>Objective: Identify optimal foreign market and entry strategy</a:t>
            </a:r>
          </a:p>
          <a:p>
            <a:pPr>
              <a:spcAft>
                <a:spcPts val="1200"/>
              </a:spcAft>
              <a:defRPr sz="1600"/>
            </a:pPr>
            <a:r>
              <a:t>Analysis Framework: PESTLE analysis, comparative factor weighting, entry strategy evaluation</a:t>
            </a:r>
          </a:p>
          <a:p>
            <a:pPr>
              <a:spcAft>
                <a:spcPts val="1200"/>
              </a:spcAft>
              <a:defRPr sz="1600"/>
            </a:pPr>
            <a:r>
              <a:t>Selected Market: Indonesia (270M+ population, Halal-certified demand)</a:t>
            </a:r>
          </a:p>
          <a:p>
            <a:pPr>
              <a:spcAft>
                <a:spcPts val="1200"/>
              </a:spcAft>
              <a:defRPr sz="1600"/>
            </a:pPr>
            <a:r>
              <a:t>Recommended Entry: Joint venture with local food/logistics partner</a:t>
            </a:r>
          </a:p>
          <a:p>
            <a:pPr>
              <a:spcAft>
                <a:spcPts val="1200"/>
              </a:spcAft>
              <a:defRPr sz="1600"/>
            </a:pPr>
            <a:r>
              <a:t>Strategy: Localized marketing, pricing, and CSR for sustainable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Company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Founded: 1977 in Riyadh, Saudi Arabia</a:t>
            </a:r>
          </a:p>
          <a:p>
            <a:pPr>
              <a:spcAft>
                <a:spcPts val="1200"/>
              </a:spcAft>
              <a:defRPr sz="1600"/>
            </a:pPr>
            <a:r>
              <a:t>Position: Largest vertically integrated dairy &amp; food company in Middle East</a:t>
            </a:r>
          </a:p>
          <a:p>
            <a:pPr>
              <a:spcAft>
                <a:spcPts val="1200"/>
              </a:spcAft>
              <a:defRPr sz="1600"/>
            </a:pPr>
            <a:r>
              <a:t>Operations: Dairy, juice, bakery, poultry, infant nutrition</a:t>
            </a:r>
          </a:p>
          <a:p>
            <a:pPr>
              <a:spcAft>
                <a:spcPts val="1200"/>
              </a:spcAft>
              <a:defRPr sz="1600"/>
            </a:pPr>
            <a:r>
              <a:t>Scale: 200,000+ dairy cattle, 20 manufacturing facilities</a:t>
            </a:r>
          </a:p>
          <a:p>
            <a:pPr>
              <a:spcAft>
                <a:spcPts val="1200"/>
              </a:spcAft>
              <a:defRPr sz="1600"/>
            </a:pPr>
            <a:r>
              <a:t>Revenue: SAR 18 billion (USD 4.8 billion) annually</a:t>
            </a:r>
          </a:p>
          <a:p>
            <a:pPr>
              <a:spcAft>
                <a:spcPts val="1200"/>
              </a:spcAft>
              <a:defRPr sz="1600"/>
            </a:pPr>
            <a:r>
              <a:t>Vision: Consumer's preferred choice through quality, innovation, nutrition</a:t>
            </a:r>
          </a:p>
          <a:p>
            <a:pPr>
              <a:spcAft>
                <a:spcPts val="1200"/>
              </a:spcAft>
              <a:defRPr sz="1600"/>
            </a:pPr>
            <a:r>
              <a:t>Alignment: Saudi Arabia's Vision 2030 for economic diversification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Drivers of International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Market Saturation: Mature GCC markets require new growth avenues</a:t>
            </a:r>
          </a:p>
          <a:p>
            <a:pPr>
              <a:spcAft>
                <a:spcPts val="1200"/>
              </a:spcAft>
              <a:defRPr sz="1600"/>
            </a:pPr>
            <a:r>
              <a:t>Vision 2030 Alignment: Export diversification and foreign investment</a:t>
            </a:r>
          </a:p>
          <a:p>
            <a:pPr>
              <a:spcAft>
                <a:spcPts val="1200"/>
              </a:spcAft>
              <a:defRPr sz="1600"/>
            </a:pPr>
            <a:r>
              <a:t>Economic Diversification: Reduce dependence on regional dairy sales</a:t>
            </a:r>
          </a:p>
          <a:p>
            <a:pPr>
              <a:spcAft>
                <a:spcPts val="1200"/>
              </a:spcAft>
              <a:defRPr sz="1600"/>
            </a:pPr>
            <a:r>
              <a:t>Cultural Compatibility: Indonesia's Muslim-majority aligns with Halal brand</a:t>
            </a:r>
          </a:p>
          <a:p>
            <a:pPr>
              <a:spcAft>
                <a:spcPts val="1200"/>
              </a:spcAft>
              <a:defRPr sz="1600"/>
            </a:pPr>
            <a:r>
              <a:t>Regional Integration: ASEAN &amp; RCEP membership reduces tariffs</a:t>
            </a:r>
          </a:p>
          <a:p>
            <a:pPr>
              <a:spcAft>
                <a:spcPts val="1200"/>
              </a:spcAft>
              <a:defRPr sz="1600"/>
            </a:pPr>
            <a:r>
              <a:t>Core Competency: Leverage cold-chain logistics expertise</a:t>
            </a:r>
          </a:p>
          <a:p>
            <a:pPr>
              <a:spcAft>
                <a:spcPts val="1200"/>
              </a:spcAft>
              <a:defRPr sz="1600"/>
            </a:pPr>
            <a:r>
              <a:t>Brand Globalization: Position as trusted global Halal brand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Alternative Foreign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India:</a:t>
            </a:r>
          </a:p>
          <a:p>
            <a:pPr>
              <a:spcAft>
                <a:spcPts val="1200"/>
              </a:spcAft>
              <a:defRPr sz="1600"/>
            </a:pPr>
            <a:r>
              <a:t>  • Large scale but dominated by domestic cooperatives (Amul, Mother Dairy)</a:t>
            </a:r>
          </a:p>
          <a:p>
            <a:pPr>
              <a:spcAft>
                <a:spcPts val="1200"/>
              </a:spcAft>
              <a:defRPr sz="1600"/>
            </a:pPr>
            <a:r>
              <a:t>  • High competition, strict regulations, limited cold-chain infrastructure</a:t>
            </a:r>
          </a:p>
          <a:p>
            <a:pPr>
              <a:spcAft>
                <a:spcPts val="1200"/>
              </a:spcAft>
              <a:defRPr sz="1600"/>
            </a:pPr>
            <a:r>
              <a:t>  • Lower attractiveness for entry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Indonesia:</a:t>
            </a:r>
          </a:p>
          <a:p>
            <a:pPr>
              <a:spcAft>
                <a:spcPts val="1200"/>
              </a:spcAft>
              <a:defRPr sz="1600"/>
            </a:pPr>
            <a:r>
              <a:t>  • 80%+ dairy import dependency</a:t>
            </a:r>
          </a:p>
          <a:p>
            <a:pPr>
              <a:spcAft>
                <a:spcPts val="1200"/>
              </a:spcAft>
              <a:defRPr sz="1600"/>
            </a:pPr>
            <a:r>
              <a:t>  • Strong economic growth (GDP ~USD 1.6 trillion)</a:t>
            </a:r>
          </a:p>
          <a:p>
            <a:pPr>
              <a:spcAft>
                <a:spcPts val="1200"/>
              </a:spcAft>
              <a:defRPr sz="1600"/>
            </a:pPr>
            <a:r>
              <a:t>  • Young, urbanizing population</a:t>
            </a:r>
          </a:p>
          <a:p>
            <a:pPr>
              <a:spcAft>
                <a:spcPts val="1200"/>
              </a:spcAft>
              <a:defRPr sz="1600"/>
            </a:pPr>
            <a:r>
              <a:t>  • Cultural and religious similarity with Saudi Arabia</a:t>
            </a:r>
          </a:p>
          <a:p>
            <a:pPr>
              <a:spcAft>
                <a:spcPts val="1200"/>
              </a:spcAft>
              <a:defRPr sz="1600"/>
            </a:pPr>
            <a:r>
              <a:t>  • Selected for detailed assessment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PESTLE Analysis: Political &amp; Economic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Political:</a:t>
            </a:r>
          </a:p>
          <a:p>
            <a:pPr>
              <a:spcAft>
                <a:spcPts val="1200"/>
              </a:spcAft>
              <a:defRPr sz="1600"/>
            </a:pPr>
            <a:r>
              <a:t>  • Stable democracy with consistent economic policy</a:t>
            </a:r>
          </a:p>
          <a:p>
            <a:pPr>
              <a:spcAft>
                <a:spcPts val="1200"/>
              </a:spcAft>
              <a:defRPr sz="1600"/>
            </a:pPr>
            <a:r>
              <a:t>  • Government promotes food security and Halal industry</a:t>
            </a:r>
          </a:p>
          <a:p>
            <a:pPr>
              <a:spcAft>
                <a:spcPts val="1200"/>
              </a:spcAft>
              <a:defRPr sz="1600"/>
            </a:pPr>
            <a:r>
              <a:t>  • Regulatory complexity in import licensing and certification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Economic:</a:t>
            </a:r>
          </a:p>
          <a:p>
            <a:pPr>
              <a:spcAft>
                <a:spcPts val="1200"/>
              </a:spcAft>
              <a:defRPr sz="1600"/>
            </a:pPr>
            <a:r>
              <a:t>  • GDP: USD 1.6 trillion; growth 5-5.5% annually</a:t>
            </a:r>
          </a:p>
          <a:p>
            <a:pPr>
              <a:spcAft>
                <a:spcPts val="1200"/>
              </a:spcAft>
              <a:defRPr sz="1600"/>
            </a:pPr>
            <a:r>
              <a:t>  • Middle-class expansion: 140M by 2030</a:t>
            </a:r>
          </a:p>
          <a:p>
            <a:pPr>
              <a:spcAft>
                <a:spcPts val="1200"/>
              </a:spcAft>
              <a:defRPr sz="1600"/>
            </a:pPr>
            <a:r>
              <a:t>  • Dairy market: 80% imports, 8-10% annual growth</a:t>
            </a:r>
          </a:p>
          <a:p>
            <a:pPr>
              <a:spcAft>
                <a:spcPts val="1200"/>
              </a:spcAft>
              <a:defRPr sz="1600"/>
            </a:pPr>
            <a:r>
              <a:t>  • Currency risk: Rupiah volatility requires hedging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PESTLE Analysis: Social &amp; Technological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Social/Cultural:</a:t>
            </a:r>
          </a:p>
          <a:p>
            <a:pPr>
              <a:spcAft>
                <a:spcPts val="1200"/>
              </a:spcAft>
              <a:defRPr sz="1600"/>
            </a:pPr>
            <a:r>
              <a:t>  • Largest Muslim population globally - Halal certification mandatory</a:t>
            </a:r>
          </a:p>
          <a:p>
            <a:pPr>
              <a:spcAft>
                <a:spcPts val="1200"/>
              </a:spcAft>
              <a:defRPr sz="1600"/>
            </a:pPr>
            <a:r>
              <a:t>  • Preference for sweetened/flavored milk and yogurt drinks</a:t>
            </a:r>
          </a:p>
          <a:p>
            <a:pPr>
              <a:spcAft>
                <a:spcPts val="1200"/>
              </a:spcAft>
              <a:defRPr sz="1600"/>
            </a:pPr>
            <a:r>
              <a:t>  • Family-oriented culture values brand trust and quality</a:t>
            </a:r>
          </a:p>
          <a:p>
            <a:pPr>
              <a:spcAft>
                <a:spcPts val="1200"/>
              </a:spcAft>
              <a:defRPr sz="1600"/>
            </a:pPr>
            <a:r>
              <a:t>  • 95%+ literacy; highest social media usage globally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Technological:</a:t>
            </a:r>
          </a:p>
          <a:p>
            <a:pPr>
              <a:spcAft>
                <a:spcPts val="1200"/>
              </a:spcAft>
              <a:defRPr sz="1600"/>
            </a:pPr>
            <a:r>
              <a:t>  • E-commerce penetration &gt;70%</a:t>
            </a:r>
          </a:p>
          <a:p>
            <a:pPr>
              <a:spcAft>
                <a:spcPts val="1200"/>
              </a:spcAft>
              <a:defRPr sz="1600"/>
            </a:pPr>
            <a:r>
              <a:t>  • Growing logistics tech startups</a:t>
            </a:r>
          </a:p>
          <a:p>
            <a:pPr>
              <a:spcAft>
                <a:spcPts val="1200"/>
              </a:spcAft>
              <a:defRPr sz="1600"/>
            </a:pPr>
            <a:r>
              <a:t>  • Underdeveloped cold-chain outside major cities</a:t>
            </a:r>
          </a:p>
          <a:p>
            <a:pPr>
              <a:spcAft>
                <a:spcPts val="1200"/>
              </a:spcAft>
              <a:defRPr sz="1600"/>
            </a:pPr>
            <a:r>
              <a:t>  • Opportunity for Almarai's logistics expertise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PESTLE Analysis: Legal &amp; Environmental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Legal:</a:t>
            </a:r>
          </a:p>
          <a:p>
            <a:pPr>
              <a:spcAft>
                <a:spcPts val="1200"/>
              </a:spcAft>
              <a:defRPr sz="1600"/>
            </a:pPr>
            <a:r>
              <a:t>  • Comprehensive consumer and Halal laws (BPOM, MUI)</a:t>
            </a:r>
          </a:p>
          <a:p>
            <a:pPr>
              <a:spcAft>
                <a:spcPts val="1200"/>
              </a:spcAft>
              <a:defRPr sz="1600"/>
            </a:pPr>
            <a:r>
              <a:t>  • High but transparent compliance costs</a:t>
            </a:r>
          </a:p>
          <a:p>
            <a:pPr>
              <a:spcAft>
                <a:spcPts val="1200"/>
              </a:spcAft>
              <a:defRPr sz="1600"/>
            </a:pPr>
            <a:r>
              <a:t>  • Improving IP protection under WTO-TRIPS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Environmental:</a:t>
            </a:r>
          </a:p>
          <a:p>
            <a:pPr>
              <a:spcAft>
                <a:spcPts val="1200"/>
              </a:spcAft>
              <a:defRPr sz="1600"/>
            </a:pPr>
            <a:r>
              <a:t>  • Deforestation and carbon-emission concerns</a:t>
            </a:r>
          </a:p>
          <a:p>
            <a:pPr>
              <a:spcAft>
                <a:spcPts val="1200"/>
              </a:spcAft>
              <a:defRPr sz="1600"/>
            </a:pPr>
            <a:r>
              <a:t>  • Sustainability pressure on dairy waste and packaging</a:t>
            </a:r>
          </a:p>
          <a:p>
            <a:pPr>
              <a:spcAft>
                <a:spcPts val="1200"/>
              </a:spcAft>
              <a:defRPr sz="1600"/>
            </a:pPr>
            <a:r>
              <a:t>  • Government incentives for green manufacturing</a:t>
            </a:r>
          </a:p>
          <a:p>
            <a:pPr>
              <a:spcAft>
                <a:spcPts val="1200"/>
              </a:spcAft>
              <a:defRPr sz="1600"/>
            </a:pPr>
            <a:r>
              <a:t>  • Renewable energy opportunities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India vs Indonesia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715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Criteria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India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Indonesia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Political 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Market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Cultural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Competition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Developing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Regulatory 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</a:t>
                      </a:r>
                    </a:p>
                  </a:txBody>
                  <a:tcPr/>
                </a:tc>
              </a:tr>
              <a:tr h="571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Import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 (80%)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Why Indonesia?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High sustainable demand: Urbanization, rising income, Halal norms</a:t>
            </a:r>
          </a:p>
          <a:p>
            <a:pPr>
              <a:spcAft>
                <a:spcPts val="1200"/>
              </a:spcAft>
              <a:defRPr sz="1600"/>
            </a:pPr>
            <a:r>
              <a:t>Strategic location: ASEAN &amp; RCEP access to 2B consumers</a:t>
            </a:r>
          </a:p>
          <a:p>
            <a:pPr>
              <a:spcAft>
                <a:spcPts val="1200"/>
              </a:spcAft>
              <a:defRPr sz="1600"/>
            </a:pPr>
            <a:r>
              <a:t>Political &amp; economic stability: Market-based system</a:t>
            </a:r>
          </a:p>
          <a:p>
            <a:pPr>
              <a:spcAft>
                <a:spcPts val="1200"/>
              </a:spcAft>
              <a:defRPr sz="1600"/>
            </a:pPr>
            <a:r>
              <a:t>Cultural compatibility: Saudi values enhance brand trust</a:t>
            </a:r>
          </a:p>
          <a:p>
            <a:pPr>
              <a:spcAft>
                <a:spcPts val="1200"/>
              </a:spcAft>
              <a:defRPr sz="1600"/>
            </a:pPr>
            <a:r>
              <a:t>Favorable demographics: Young, health-conscious, tech-savvy</a:t>
            </a:r>
          </a:p>
          <a:p>
            <a:pPr>
              <a:spcAft>
                <a:spcPts val="1200"/>
              </a:spcAft>
              <a:defRPr sz="1600"/>
            </a:pPr>
            <a:r>
              <a:t>Aligns with Saudi Vision 2030 objectives</a:t>
            </a:r>
          </a:p>
          <a:p>
            <a:pPr>
              <a:spcAft>
                <a:spcPts val="1200"/>
              </a:spcAft>
              <a:defRPr sz="1600"/>
            </a:pPr>
            <a:r>
              <a:t>Opportunity for sustainable international growth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Entry Strategy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1. Exporting: Low investment but high transport costs, limited control</a:t>
            </a:r>
          </a:p>
          <a:p>
            <a:pPr>
              <a:spcAft>
                <a:spcPts val="1200"/>
              </a:spcAft>
              <a:defRPr sz="1600"/>
            </a:pPr>
            <a:r>
              <a:t>2. Licensing/Franchising: Low risk but IP leakage risk, quality issues</a:t>
            </a:r>
          </a:p>
          <a:p>
            <a:pPr>
              <a:spcAft>
                <a:spcPts val="1200"/>
              </a:spcAft>
              <a:defRPr sz="1600"/>
            </a:pPr>
            <a:r>
              <a:t>3. Joint Venture (RECOMMENDED):</a:t>
            </a:r>
          </a:p>
          <a:p>
            <a:pPr>
              <a:spcAft>
                <a:spcPts val="1200"/>
              </a:spcAft>
              <a:defRPr sz="1600"/>
            </a:pPr>
            <a:r>
              <a:t>   • Shared risk with local partner (Indofood CBP, Mayora Indah)</a:t>
            </a:r>
          </a:p>
          <a:p>
            <a:pPr>
              <a:spcAft>
                <a:spcPts val="1200"/>
              </a:spcAft>
              <a:defRPr sz="1600"/>
            </a:pPr>
            <a:r>
              <a:t>   • Access to distribution network and regulatory facilitation</a:t>
            </a:r>
          </a:p>
          <a:p>
            <a:pPr>
              <a:spcAft>
                <a:spcPts val="1200"/>
              </a:spcAft>
              <a:defRPr sz="1600"/>
            </a:pPr>
            <a:r>
              <a:t>   • Local market insights with maintained quality control</a:t>
            </a:r>
          </a:p>
          <a:p>
            <a:pPr>
              <a:spcAft>
                <a:spcPts val="1200"/>
              </a:spcAft>
              <a:defRPr sz="1600"/>
            </a:pPr>
            <a:r>
              <a:t>4. Wholly Owned Subsidiary: Full control but high investment &amp;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Phase 1: Partner Selection &amp; Due Diligence (6 months)</a:t>
            </a:r>
          </a:p>
          <a:p>
            <a:pPr>
              <a:spcAft>
                <a:spcPts val="1200"/>
              </a:spcAft>
              <a:defRPr sz="1600"/>
            </a:pPr>
            <a:r>
              <a:t>  • Identify and evaluate potential JV partners</a:t>
            </a:r>
          </a:p>
          <a:p>
            <a:pPr>
              <a:spcAft>
                <a:spcPts val="1200"/>
              </a:spcAft>
              <a:defRPr sz="1600"/>
            </a:pPr>
            <a:r>
              <a:t>  • Negotiate terms and establish governance structure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Phase 2: Market Entry &amp; Setup (12 months)</a:t>
            </a:r>
          </a:p>
          <a:p>
            <a:pPr>
              <a:spcAft>
                <a:spcPts val="1200"/>
              </a:spcAft>
              <a:defRPr sz="1600"/>
            </a:pPr>
            <a:r>
              <a:t>  • Obtain Halal certification and regulatory approvals</a:t>
            </a:r>
          </a:p>
          <a:p>
            <a:pPr>
              <a:spcAft>
                <a:spcPts val="1200"/>
              </a:spcAft>
              <a:defRPr sz="1600"/>
            </a:pPr>
            <a:r>
              <a:t>  • Establish distribution network and cold-chain logistics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Phase 3: Launch &amp; Scale (18-24 months)</a:t>
            </a:r>
          </a:p>
          <a:p>
            <a:pPr>
              <a:spcAft>
                <a:spcPts val="1200"/>
              </a:spcAft>
              <a:defRPr sz="1600"/>
            </a:pPr>
            <a:r>
              <a:t>  • Product launch in major cities (Jakarta, Surabaya, Bandung)</a:t>
            </a:r>
          </a:p>
          <a:p>
            <a:pPr>
              <a:spcAft>
                <a:spcPts val="1200"/>
              </a:spcAft>
              <a:defRPr sz="1600"/>
            </a:pPr>
            <a:r>
              <a:t>  • Digital marketing campaigns and brand awareness</a:t>
            </a:r>
          </a:p>
          <a:p>
            <a:pPr>
              <a:spcAft>
                <a:spcPts val="1200"/>
              </a:spcAft>
              <a:defRPr sz="1600"/>
            </a:pPr>
            <a:r>
              <a:t>  • Expand to secondary markets based on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Marketing &amp; Brand Awareness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Brand Positioning: Premium Halal dairy from Middle East</a:t>
            </a:r>
          </a:p>
          <a:p>
            <a:pPr>
              <a:spcAft>
                <a:spcPts val="1200"/>
              </a:spcAft>
              <a:defRPr sz="1600"/>
            </a:pPr>
            <a:r>
              <a:t>Target Segments: Urban middle-class families, health-conscious consumers</a:t>
            </a:r>
          </a:p>
          <a:p>
            <a:pPr>
              <a:spcAft>
                <a:spcPts val="1200"/>
              </a:spcAft>
              <a:defRPr sz="1600"/>
            </a:pPr>
            <a:r>
              <a:t>Digital Marketing: Social media campaigns, influencer partnerships</a:t>
            </a:r>
          </a:p>
          <a:p>
            <a:pPr>
              <a:spcAft>
                <a:spcPts val="1200"/>
              </a:spcAft>
              <a:defRPr sz="1600"/>
            </a:pPr>
            <a:r>
              <a:t>Localization: Adapt flavors to Indonesian preferences (sweetened, flavored)</a:t>
            </a:r>
          </a:p>
          <a:p>
            <a:pPr>
              <a:spcAft>
                <a:spcPts val="1200"/>
              </a:spcAft>
              <a:defRPr sz="1600"/>
            </a:pPr>
            <a:r>
              <a:t>Retail Presence: Modern trade (supermarkets, convenience stores)</a:t>
            </a:r>
          </a:p>
          <a:p>
            <a:pPr>
              <a:spcAft>
                <a:spcPts val="1200"/>
              </a:spcAft>
              <a:defRPr sz="1600"/>
            </a:pPr>
            <a:r>
              <a:t>E-commerce: Partner with Tokopedia, Shopee, GoFood</a:t>
            </a:r>
          </a:p>
          <a:p>
            <a:pPr>
              <a:spcAft>
                <a:spcPts val="1200"/>
              </a:spcAft>
              <a:defRPr sz="1600"/>
            </a:pPr>
            <a:r>
              <a:t>Sampling &amp; Promotions: In-store tastings, bundle offers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Pricing &amp; CSR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Pricing Strategy:</a:t>
            </a:r>
          </a:p>
          <a:p>
            <a:pPr>
              <a:spcAft>
                <a:spcPts val="1200"/>
              </a:spcAft>
              <a:defRPr sz="1600"/>
            </a:pPr>
            <a:r>
              <a:t>  • Premium positioning (10-15% above local brands)</a:t>
            </a:r>
          </a:p>
          <a:p>
            <a:pPr>
              <a:spcAft>
                <a:spcPts val="1200"/>
              </a:spcAft>
              <a:defRPr sz="1600"/>
            </a:pPr>
            <a:r>
              <a:t>  • Value packs for family consumption</a:t>
            </a:r>
          </a:p>
          <a:p>
            <a:pPr>
              <a:spcAft>
                <a:spcPts val="1200"/>
              </a:spcAft>
              <a:defRPr sz="1600"/>
            </a:pPr>
            <a:r>
              <a:t>  • Promotional pricing during Ramadan and Eid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CSR &amp; Sustainability:</a:t>
            </a:r>
          </a:p>
          <a:p>
            <a:pPr>
              <a:spcAft>
                <a:spcPts val="1200"/>
              </a:spcAft>
              <a:defRPr sz="1600"/>
            </a:pPr>
            <a:r>
              <a:t>  • Support local dairy farmers through training programs</a:t>
            </a:r>
          </a:p>
          <a:p>
            <a:pPr>
              <a:spcAft>
                <a:spcPts val="1200"/>
              </a:spcAft>
              <a:defRPr sz="1600"/>
            </a:pPr>
            <a:r>
              <a:t>  • Eco-friendly packaging and waste reduction</a:t>
            </a:r>
          </a:p>
          <a:p>
            <a:pPr>
              <a:spcAft>
                <a:spcPts val="1200"/>
              </a:spcAft>
              <a:defRPr sz="1600"/>
            </a:pPr>
            <a:r>
              <a:t>  • Community nutrition education initiatives</a:t>
            </a:r>
          </a:p>
          <a:p>
            <a:pPr>
              <a:spcAft>
                <a:spcPts val="1200"/>
              </a:spcAft>
              <a:defRPr sz="1600"/>
            </a:pPr>
            <a:r>
              <a:t>  • Renewable energy in manufacturing facilities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Challenge: Complex regulatory environment</a:t>
            </a:r>
          </a:p>
          <a:p>
            <a:pPr>
              <a:spcAft>
                <a:spcPts val="1200"/>
              </a:spcAft>
              <a:defRPr sz="1600"/>
            </a:pPr>
            <a:r>
              <a:t>Solution: Partner with local experts, invest in compliance team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Challenge: Underdeveloped cold-chain infrastructure</a:t>
            </a:r>
          </a:p>
          <a:p>
            <a:pPr>
              <a:spcAft>
                <a:spcPts val="1200"/>
              </a:spcAft>
              <a:defRPr sz="1600"/>
            </a:pPr>
            <a:r>
              <a:t>Solution: Leverage Almarai's logistics expertise, invest in facilities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Challenge: Currency volatility (Rupiah)</a:t>
            </a:r>
          </a:p>
          <a:p>
            <a:pPr>
              <a:spcAft>
                <a:spcPts val="1200"/>
              </a:spcAft>
              <a:defRPr sz="1600"/>
            </a:pPr>
            <a:r>
              <a:t>Solution: Financial hedging, local sourcing where possible</a:t>
            </a:r>
          </a:p>
          <a:p>
            <a:pPr>
              <a:spcAft>
                <a:spcPts val="1200"/>
              </a:spcAft>
              <a:defRPr sz="1600"/>
            </a:pPr>
          </a:p>
          <a:p>
            <a:pPr>
              <a:spcAft>
                <a:spcPts val="1200"/>
              </a:spcAft>
              <a:defRPr sz="1600"/>
            </a:pPr>
            <a:r>
              <a:t>Challenge: Competition from established local brands</a:t>
            </a:r>
          </a:p>
          <a:p>
            <a:pPr>
              <a:spcAft>
                <a:spcPts val="1200"/>
              </a:spcAft>
              <a:defRPr sz="1600"/>
            </a:pPr>
            <a:r>
              <a:t>Solution: Differentiate through quality, Halal certification, premium positioning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Study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Indonesia offers optimal market conditions for Almarai's expansion</a:t>
            </a:r>
          </a:p>
          <a:p>
            <a:pPr>
              <a:spcAft>
                <a:spcPts val="1200"/>
              </a:spcAft>
              <a:defRPr sz="1600"/>
            </a:pPr>
            <a:r>
              <a:t>Strong cultural and religious alignment enhances brand acceptance</a:t>
            </a:r>
          </a:p>
          <a:p>
            <a:pPr>
              <a:spcAft>
                <a:spcPts val="1200"/>
              </a:spcAft>
              <a:defRPr sz="1600"/>
            </a:pPr>
            <a:r>
              <a:t>Joint venture balances risk, control, and local market access</a:t>
            </a:r>
          </a:p>
          <a:p>
            <a:pPr>
              <a:spcAft>
                <a:spcPts val="1200"/>
              </a:spcAft>
              <a:defRPr sz="1600"/>
            </a:pPr>
            <a:r>
              <a:t>Growing middle class drives demand for premium dairy products</a:t>
            </a:r>
          </a:p>
          <a:p>
            <a:pPr>
              <a:spcAft>
                <a:spcPts val="1200"/>
              </a:spcAft>
              <a:defRPr sz="1600"/>
            </a:pPr>
            <a:r>
              <a:t>Digital infrastructure enables cost-effective marketing</a:t>
            </a:r>
          </a:p>
          <a:p>
            <a:pPr>
              <a:spcAft>
                <a:spcPts val="1200"/>
              </a:spcAft>
              <a:defRPr sz="1600"/>
            </a:pPr>
            <a:r>
              <a:t>Regulatory challenges manageable with local partnership</a:t>
            </a:r>
          </a:p>
          <a:p>
            <a:pPr>
              <a:spcAft>
                <a:spcPts val="1200"/>
              </a:spcAft>
              <a:defRPr sz="1600"/>
            </a:pPr>
            <a:r>
              <a:t>Sustainability and CSR critical for long-term success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1. Establish joint venture with reputable Indonesian food company</a:t>
            </a:r>
          </a:p>
          <a:p>
            <a:pPr>
              <a:spcAft>
                <a:spcPts val="1200"/>
              </a:spcAft>
              <a:defRPr sz="1600"/>
            </a:pPr>
            <a:r>
              <a:t>2. Prioritize Halal certification and regulatory compliance</a:t>
            </a:r>
          </a:p>
          <a:p>
            <a:pPr>
              <a:spcAft>
                <a:spcPts val="1200"/>
              </a:spcAft>
              <a:defRPr sz="1600"/>
            </a:pPr>
            <a:r>
              <a:t>3. Invest in cold-chain logistics infrastructure</a:t>
            </a:r>
          </a:p>
          <a:p>
            <a:pPr>
              <a:spcAft>
                <a:spcPts val="1200"/>
              </a:spcAft>
              <a:defRPr sz="1600"/>
            </a:pPr>
            <a:r>
              <a:t>4. Launch with localized product portfolio (flavored milk, yogurt)</a:t>
            </a:r>
          </a:p>
          <a:p>
            <a:pPr>
              <a:spcAft>
                <a:spcPts val="1200"/>
              </a:spcAft>
              <a:defRPr sz="1600"/>
            </a:pPr>
            <a:r>
              <a:t>5. Implement aggressive digital marketing strategy</a:t>
            </a:r>
          </a:p>
          <a:p>
            <a:pPr>
              <a:spcAft>
                <a:spcPts val="1200"/>
              </a:spcAft>
              <a:defRPr sz="1600"/>
            </a:pPr>
            <a:r>
              <a:t>6. Build strong CSR program focused on sustainability</a:t>
            </a:r>
          </a:p>
          <a:p>
            <a:pPr>
              <a:spcAft>
                <a:spcPts val="1200"/>
              </a:spcAft>
              <a:defRPr sz="1600"/>
            </a:pPr>
            <a:r>
              <a:t>7. Monitor currency risk and implement hedging strategies</a:t>
            </a:r>
          </a:p>
          <a:p>
            <a:pPr>
              <a:spcAft>
                <a:spcPts val="1200"/>
              </a:spcAft>
              <a:defRPr sz="1600"/>
            </a:pPr>
            <a:r>
              <a:t>8. Plan phased expansion: major cities first, then secondary markets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600"/>
            </a:pPr>
            <a:r>
              <a:t>Indonesia represents a strategic opportunity for Almarai</a:t>
            </a:r>
          </a:p>
          <a:p>
            <a:pPr>
              <a:spcAft>
                <a:spcPts val="1200"/>
              </a:spcAft>
              <a:defRPr sz="1600"/>
            </a:pPr>
            <a:r>
              <a:t>Market conditions align with company's strengths and Vision 2030</a:t>
            </a:r>
          </a:p>
          <a:p>
            <a:pPr>
              <a:spcAft>
                <a:spcPts val="1200"/>
              </a:spcAft>
              <a:defRPr sz="1600"/>
            </a:pPr>
            <a:r>
              <a:t>Joint venture approach minimizes risk while maximizing market access</a:t>
            </a:r>
          </a:p>
          <a:p>
            <a:pPr>
              <a:spcAft>
                <a:spcPts val="1200"/>
              </a:spcAft>
              <a:defRPr sz="1600"/>
            </a:pPr>
            <a:r>
              <a:t>Success requires:</a:t>
            </a:r>
          </a:p>
          <a:p>
            <a:pPr>
              <a:spcAft>
                <a:spcPts val="1200"/>
              </a:spcAft>
              <a:defRPr sz="1600"/>
            </a:pPr>
            <a:r>
              <a:t>  • Strong local partnership</a:t>
            </a:r>
          </a:p>
          <a:p>
            <a:pPr>
              <a:spcAft>
                <a:spcPts val="1200"/>
              </a:spcAft>
              <a:defRPr sz="1600"/>
            </a:pPr>
            <a:r>
              <a:t>  • Cultural adaptation and localization</a:t>
            </a:r>
          </a:p>
          <a:p>
            <a:pPr>
              <a:spcAft>
                <a:spcPts val="1200"/>
              </a:spcAft>
              <a:defRPr sz="1600"/>
            </a:pPr>
            <a:r>
              <a:t>  • Investment in infrastructure and compliance</a:t>
            </a:r>
          </a:p>
          <a:p>
            <a:pPr>
              <a:spcAft>
                <a:spcPts val="1200"/>
              </a:spcAft>
              <a:defRPr sz="1600"/>
            </a:pPr>
            <a:r>
              <a:t>  • Commitment to sustainability and CSR</a:t>
            </a:r>
          </a:p>
          <a:p>
            <a:pPr>
              <a:spcAft>
                <a:spcPts val="1200"/>
              </a:spcAft>
              <a:defRPr sz="1600"/>
            </a:pPr>
            <a:r>
              <a:t>Expected outcome: Sustainable growth and global brand recognition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